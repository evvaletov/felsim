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51435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</a:t>
            </a:r>
            <a:r>
              <a:rPr b="0" lang="en-US" sz="4400" spc="-1" strike="noStrike">
                <a:latin typeface="Arial"/>
              </a:rPr>
              <a:t>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1"/>
          <p:cNvSpPr/>
          <p:nvPr/>
        </p:nvSpPr>
        <p:spPr>
          <a:xfrm>
            <a:off x="2943000" y="519480"/>
            <a:ext cx="34578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a2e"/>
                </a:solidFill>
                <a:latin typeface="Calibri"/>
                <a:ea typeface="DejaVu Sans"/>
              </a:rPr>
              <a:t>Optimisation Studies Summary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39" name="Table 3"/>
          <p:cNvGraphicFramePr/>
          <p:nvPr/>
        </p:nvGraphicFramePr>
        <p:xfrm>
          <a:off x="987480" y="1341360"/>
          <a:ext cx="7589160" cy="112896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548640"/>
                <a:gridCol w="731520"/>
                <a:gridCol w="2377440"/>
                <a:gridCol w="777240"/>
                <a:gridCol w="777240"/>
                <a:gridCol w="640080"/>
              </a:tblGrid>
              <a:tr h="2134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σ_t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σ_E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 (chirp)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Twiss targets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β_x achieved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β_y achieved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MSE</a:t>
                      </a:r>
                      <a:endParaRPr b="0" lang="en-US" sz="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  symmetric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2.0%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20×10⁹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β = 0.24, α = 0  (both)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0.2419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0.2419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1.3e-5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 ps  Table I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 ps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0.5%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5×10⁹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β_x=1.4 α_x=0.47 / β_y=0.24 α_y=0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1.3999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0.2419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2.9e-5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  Table I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0.5%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5×10⁹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β_x=1.4 α_x=0.47 / β_y=0.24 α_y=0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1.4000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0.2420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2.6e-5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  sweep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0.5 ps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0.1–5%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0–40×10⁹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β_x=1.4 α_x=0.47 / β_y=0.24 α_y=0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(see slide 2)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e8f4"/>
                    </a:solidFill>
                  </a:tcPr>
                </a:tc>
              </a:tr>
            </a:tbl>
          </a:graphicData>
        </a:graphic>
      </p:graphicFrame>
      <p:sp>
        <p:nvSpPr>
          <p:cNvPr id="40" name="TextBox 4"/>
          <p:cNvSpPr/>
          <p:nvPr/>
        </p:nvSpPr>
        <p:spPr>
          <a:xfrm>
            <a:off x="4114800" y="2699640"/>
            <a:ext cx="12967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5599"/>
                </a:solidFill>
                <a:latin typeface="Calibri"/>
                <a:ea typeface="DejaVu Sans"/>
              </a:rPr>
              <a:t>Study parameters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" name="TextBox 5"/>
          <p:cNvSpPr/>
          <p:nvPr/>
        </p:nvSpPr>
        <p:spPr>
          <a:xfrm>
            <a:off x="457200" y="2958120"/>
            <a:ext cx="850320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Symmetric vs Table I targets: 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symmetric study uses natural undulator focusing to both planes (β = γλ_u/2πK = 0.24 m, α = 0); Table I – based studies use (β_x = 1.4 m, α_x = 0.47, waist at undulator center)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Energy spread scaling: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 the 0.5 ps symmetric study scales σ_E and h by 4x from longitudinal emittance conservation; studies 2–4 keep σ_E = 0.5% and h = 5×10⁹ per the paper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Quad currents used: 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all studies use chromaticity quad 5 + final triplet (4 variables).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2" name="TextBox 6"/>
          <p:cNvSpPr/>
          <p:nvPr/>
        </p:nvSpPr>
        <p:spPr>
          <a:xfrm>
            <a:off x="457200" y="4101120"/>
            <a:ext cx="850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All four studies achieve excellent undulator Twiss matching (MSE &lt; 3×10⁻⁵). </a:t>
            </a:r>
            <a:endParaRPr b="1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3040560" y="290520"/>
            <a:ext cx="3114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a2e"/>
                </a:solidFill>
                <a:latin typeface="Calibri"/>
                <a:ea typeface="DejaVu Sans"/>
              </a:rPr>
              <a:t>0.5 ps Parameter Sensitivity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183240" y="2058480"/>
            <a:ext cx="8503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66666"/>
                </a:solidFill>
                <a:latin typeface="Calibri"/>
                <a:ea typeface="DejaVu Sans"/>
              </a:rPr>
              <a:t>1D scans: all parameters at baseline (σ_E = 0.5%, h = 5×10⁹, ε_n = 8), sweep one.  500 particles, seed=42.  MSE thresholds: Excellent &lt; 10⁻³, Acceptable &lt; 10⁻², Failed &gt; 10⁻¹.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3869640" y="870840"/>
            <a:ext cx="930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5599"/>
                </a:solidFill>
                <a:latin typeface="Calibri"/>
                <a:ea typeface="DejaVu Sans"/>
              </a:rPr>
              <a:t>Scan results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46" name="Table 4"/>
          <p:cNvGraphicFramePr/>
          <p:nvPr/>
        </p:nvGraphicFramePr>
        <p:xfrm>
          <a:off x="182880" y="1143000"/>
          <a:ext cx="8503560" cy="91548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457200"/>
                <a:gridCol w="2286000"/>
                <a:gridCol w="3017520"/>
              </a:tblGrid>
              <a:tr h="22896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Boundary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3366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σ_E (energy spread)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0.1% – 5%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15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b7f3b"/>
                          </a:solidFill>
                          <a:latin typeface="Calibri"/>
                        </a:rPr>
                        <a:t>14 Excellent, 1 Acceptable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boundary — excellent across full range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 (chirp)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 – 40×10⁹ /s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12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1b7f3b"/>
                          </a:solidFill>
                          <a:latin typeface="Calibri"/>
                        </a:rPr>
                        <a:t>12 Excellent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boundary — no effect on Twiss matching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a"/>
                    </a:solidFill>
                  </a:tcPr>
                </a:tc>
              </a:tr>
              <a:tr h="228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ε_n (emittance)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 – 20 π·mm·mrad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cc7a00"/>
                          </a:solidFill>
                          <a:latin typeface="Calibri"/>
                        </a:rPr>
                        <a:t>Additional optimisation necessary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Failed at 1; degrades below ~4; excellent ≥ 5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47" name="TextBox 7"/>
          <p:cNvSpPr/>
          <p:nvPr/>
        </p:nvSpPr>
        <p:spPr>
          <a:xfrm>
            <a:off x="3916800" y="2471040"/>
            <a:ext cx="87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5599"/>
                </a:solidFill>
                <a:latin typeface="Calibri"/>
                <a:ea typeface="DejaVu Sans"/>
              </a:rPr>
              <a:t>Conclusion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183240" y="2743200"/>
            <a:ext cx="85035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σ_E and h do not limit Twiss matching: 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transfer matrices are linear in the FELsim Python-based code and energy-independent to first order. Chirp can be freely minimised (set by upstream RF).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ε_n limitations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 likely Nelder-Mead local minima (neighbors at 12 and 18 are excellent).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0.5 ps is achievable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 over a wide parameter range. Constraints come from upstream physics (photocathode, RF), not the beamline.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" name="TextBox 8_0"/>
          <p:cNvSpPr/>
          <p:nvPr/>
        </p:nvSpPr>
        <p:spPr>
          <a:xfrm>
            <a:off x="183240" y="3886200"/>
            <a:ext cx="71316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Multi-start optimisation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 to achieve improved results in the emittance scan.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99"/>
              </a:spcAf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DejaVu Sans"/>
              </a:rPr>
              <a:t>COSY INFINITY optimisation</a:t>
            </a: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DejaVu Sans"/>
              </a:rPr>
              <a:t> for confirmation of the Python-based 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0" name="TextBox 7_0"/>
          <p:cNvSpPr/>
          <p:nvPr/>
        </p:nvSpPr>
        <p:spPr>
          <a:xfrm>
            <a:off x="3934080" y="3519000"/>
            <a:ext cx="840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5599"/>
                </a:solidFill>
                <a:latin typeface="Calibri"/>
                <a:ea typeface="DejaVu Sans"/>
              </a:rPr>
              <a:t>Next steps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LibreOffice/7.1.8.1$Linux_X86_64 LibreOffice_project/10$Build-1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2026-02-11T15:58:27Z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